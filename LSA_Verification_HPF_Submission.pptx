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B9BEE0"/>
                </a:solidFill>
                <a:latin typeface="Calibri"/>
              </a:rPr>
              <a:t>Full Name:  [ YOUR FULL NAME ]        Email Address:  mantrabott@gmail.com        Phone Number:  [ YOUR PHONE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LSA Verification &amp; Data Lineage Integration</a:t>
            </a:r>
          </a:p>
          <a:p>
            <a:r>
              <a:rPr sz="1600">
                <a:solidFill>
                  <a:srgbClr val="C5CBF0"/>
                </a:solidFill>
                <a:latin typeface="Calibri"/>
              </a:rPr>
              <a:t>Stateless Flutter screen · Fail-closed security · Data lineage headers · UI friction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9AA0C8"/>
                </a:solidFill>
                <a:latin typeface="Calibri"/>
              </a:rPr>
              <a:t>Hiring Project Form  |  Position: Digivir – Flutter Mobile App Developer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9AA0C8"/>
                </a:solidFill>
                <a:latin typeface="Calibri"/>
              </a:rPr>
              <a:t>Architectural Explanation Presentation  ·  Flutter 3.35.2  ·  Material Design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OVERVIEW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this submission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623560"/>
                <a:gridCol w="1463040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HPF requirement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Where it lives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1 · Stateless Flutter UI, Byt boundary standard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lib/widgets/lsa_verification_screen.dart  (StatelessWidget + atomic components)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2 · API submission logic + mandatory metadata headers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lib/services/compliance_service.dart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2 · Data lineage — non-null predecessor_id before firing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verification_controller.dart  +  compliance_service.dart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2 · Fail-closed security — quarantine on null / invalid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verification_controller.dart  (three-case handler)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3 · UI friction logging — stall greater than 5 seconds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lib/services/friction_logger.dart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4 · Architectural explanation presentation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This deck (15 slides) + embedded video demo (next slide)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Automated verification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26 tests across 5 files  ·  flutter analyze reports no issues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C2B"/>
                          </a:solidFill>
                          <a:latin typeface="Calibri"/>
                        </a:rPr>
                        <a:t>Passing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DEMONSTRATION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Video walkthrough — three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6766560" cy="4480560"/>
          </a:xfrm>
          <a:prstGeom prst="roundRect">
            <a:avLst/>
          </a:prstGeom>
          <a:solidFill>
            <a:srgbClr val="F4F5FA"/>
          </a:solidFill>
          <a:ln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/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000" b="1">
                <a:solidFill>
                  <a:srgbClr val="2A3780"/>
                </a:solidFill>
                <a:latin typeface="Calibri"/>
              </a:rPr>
              <a:t>▶  Screen recording (2–3 minutes)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5E74"/>
                </a:solidFill>
                <a:latin typeface="Calibri"/>
              </a:rPr>
              <a:t>Embedded shareable link: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F51B5"/>
                </a:solidFill>
                <a:latin typeface="Calibri"/>
              </a:rPr>
              <a:t>[ PASTE LOOM / GOOGLE DRIVE LINK HERE ]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5E74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B5E74"/>
                </a:solidFill>
                <a:latin typeface="Calibri"/>
              </a:rPr>
              <a:t>Access: “Anyone with the link can view.”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A1C2B"/>
                </a:solidFill>
                <a:latin typeface="Calibri"/>
              </a:rPr>
              <a:t>The recording shows, in order:</a:t>
            </a:r>
            <a:r>
              <a:rPr sz="1300">
                <a:solidFill>
                  <a:srgbClr val="1A1C2B"/>
                </a:solidFill>
                <a:latin typeface="Calibri"/>
              </a:rPr>
              <a:t>•  Case 1 — Valid Submission: PCC-2026-9901 + PRED-9982-XYZ; request fires with headers; banner turns Success.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Case 2 — Missing Lineage: predecessor_id cleared; submit blocked before any network call; banner Quarantined (Fail-Closed).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Case 3 — Fail-Closed Error State: server returns 500 / null; volatile memory purged, form reset, submit button locked, message shown.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CONTEXT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problem this screen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>
                <a:solidFill>
                  <a:srgbClr val="1A1C2B"/>
                </a:solidFill>
                <a:latin typeface="Calibri"/>
              </a:rPr>
              <a:t>•  HabotConnect connects parents with Learning Support Assistants (LSAs) for children with learning difficulties, on a 100% remote platform.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>
                <a:solidFill>
                  <a:srgbClr val="1A1C2B"/>
                </a:solidFill>
                <a:latin typeface="Calibri"/>
              </a:rPr>
              <a:t>•  This screen is an onboarding gate: it collects an LSA identifier and a parent consent code, then verifies them against a compliance endpoint before any data is allowed to move downstream.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>
                <a:solidFill>
                  <a:srgbClr val="1A1C2B"/>
                </a:solidFill>
                <a:latin typeface="Calibri"/>
              </a:rPr>
              <a:t>•  Three hard system constraints shape every design decision:</a:t>
            </a:r>
          </a:p>
          <a:p>
            <a:pPr lvl="1">
              <a:lnSpc>
                <a:spcPct val="108000"/>
              </a:lnSpc>
              <a:spcAft>
                <a:spcPts val="13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–  Stateless paradigm — the screen widget holds no mutable state; volatile in-flight data is isolated and purged on failure.</a:t>
            </a:r>
          </a:p>
          <a:p>
            <a:pPr lvl="1">
              <a:lnSpc>
                <a:spcPct val="108000"/>
              </a:lnSpc>
              <a:spcAft>
                <a:spcPts val="13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–  Byt boundaries — the feature is split into modular, atomic units, each with one responsibility and one direction of dependency.</a:t>
            </a:r>
          </a:p>
          <a:p>
            <a:pPr lvl="1">
              <a:lnSpc>
                <a:spcPct val="108000"/>
              </a:lnSpc>
              <a:spcAft>
                <a:spcPts val="13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–  Fail-closed data gates — a null, invalid, or missing response halts data movement immediately rather than proceeding on a best guess.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>
                <a:solidFill>
                  <a:srgbClr val="1A1C2B"/>
                </a:solidFill>
                <a:latin typeface="Calibri"/>
              </a:rPr>
              <a:t>•  The endpoint host is a mock; an in-memory client stands in for it so the three cases are reproducible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ARCHITECTURE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One direction of dependency, top to bottom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371600"/>
            <a:ext cx="9601200" cy="105156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PRESENTATION</a:t>
            </a:r>
          </a:p>
          <a:p>
            <a:r>
              <a:rPr sz="1100">
                <a:solidFill>
                  <a:srgbClr val="DDE0F4"/>
                </a:solidFill>
                <a:latin typeface="Calibri"/>
              </a:rPr>
              <a:t>LsaVerificationScreen (StatelessWidget) + atomic Byt components
Renders controller state via ListenableBuilder. No logic.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06440" y="2432304"/>
            <a:ext cx="457200" cy="292608"/>
          </a:xfrm>
          <a:prstGeom prst="downArrow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2743200"/>
            <a:ext cx="9601200" cy="1051560"/>
          </a:xfrm>
          <a:prstGeom prst="roundRect">
            <a:avLst/>
          </a:prstGeom>
          <a:solidFill>
            <a:srgbClr val="2A3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ORCHESTRATION</a:t>
            </a:r>
          </a:p>
          <a:p>
            <a:r>
              <a:rPr sz="1100">
                <a:solidFill>
                  <a:srgbClr val="DDE0F4"/>
                </a:solidFill>
                <a:latin typeface="Calibri"/>
              </a:rPr>
              <a:t>VerificationController (ChangeNotifier)
The only holder of mutable state. Runs submit(), fail-closed handling, friction wiring.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06440" y="3803904"/>
            <a:ext cx="457200" cy="292608"/>
          </a:xfrm>
          <a:prstGeom prst="downArrow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80160" y="4114800"/>
            <a:ext cx="9601200" cy="1051560"/>
          </a:xfrm>
          <a:prstGeom prst="roundRect">
            <a:avLst/>
          </a:prstGeom>
          <a:solidFill>
            <a:srgbClr val="37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CAPABILITY</a:t>
            </a:r>
          </a:p>
          <a:p>
            <a:r>
              <a:rPr sz="1100">
                <a:solidFill>
                  <a:srgbClr val="DDE0F4"/>
                </a:solidFill>
                <a:latin typeface="Calibri"/>
              </a:rPr>
              <a:t>ComplianceService  ·  FrictionLogger  ·  FakeComplianceApi
HTTP POST + header injection + response gates  |  5-second stall detection  |  offline stand-in.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06440" y="5175504"/>
            <a:ext cx="457200" cy="292608"/>
          </a:xfrm>
          <a:prstGeom prst="downArrow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5486400"/>
            <a:ext cx="9601200" cy="1051560"/>
          </a:xfrm>
          <a:prstGeom prst="roundRect">
            <a:avLst/>
          </a:prstGeom>
          <a:solidFill>
            <a:srgbClr val="4A5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  <a:p>
            <a:r>
              <a:rPr sz="1100">
                <a:solidFill>
                  <a:srgbClr val="DDE0F4"/>
                </a:solidFill>
                <a:latin typeface="Calibri"/>
              </a:rPr>
              <a:t>models/ (VerificationStatus, VerificationViewState)  ·  exceptions/ (LineageException, ComplianceQuarantineException)
Pure data and typed signals. No behaviour.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BYT STANDARD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Modular, atomic, single-responsibility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B5E74"/>
                </a:solidFill>
                <a:latin typeface="Calibri"/>
              </a:rPr>
              <a:t>Each file states its Byt boundary in a doc header, owns exactly one concern, and depends only on the layer beneath it. Nothing reaches upward.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286000"/>
          <a:ext cx="11201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1780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Single responsibility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lsa_verification_screen.dart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Compose atomic widgets and render controller state. Never calls the API.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_ScreenHeader / _LsaIdField / _PredecessorIdField / _ParentConsentCodeField / _StatusBanner / _SubmitButton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One visual element each. Reusable, no business logic, no mutable field.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verification_controller.dart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Hold mutable state; run the submission workflow; translate outcomes to view state.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compliance_service.dart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Build and fire one HTTP request; inject headers; validate the response.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friction_logger.dart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Detect a stall on one field; emit one structured log line.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models/  ·  exceptions/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Immutable data and typed error signals only.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STATELESS PARADIGM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Volatile memory is isolated and purged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LsaVerificationScreen extends StatelessWidget — no State&lt;T&gt;, no fields that survive a rebuild.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All dynamic values come from VerificationController and are rebuilt through ListenableBuilder.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The App widget owns the single controller instance and disposes it.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“Volatile memory” = the in-flight consent code and lineage id.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On a fail-closed error (Case 3) both are wiped in _purgeVolatileMemory(); the form is reset and the submit button is locked.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480560"/>
          </a:xfrm>
          <a:prstGeom prst="roundRect">
            <a:avLst/>
          </a:prstGeom>
          <a:solidFill>
            <a:srgbClr val="1A1C2B"/>
          </a:solidFill>
          <a:ln>
            <a:solidFill>
              <a:srgbClr val="2A3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class LsaVerificationScreen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  extends StatelessWidget {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final VerificationController controller;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// no setState, no mutable field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void _purgeVolatileMemory() {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consentCodeController.clear();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_predecessorId = null;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UI FIDELITY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Figma specification, component by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201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349240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Specification item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Header — title “LSA Onboarding Gate”, subtitle “HabotConnect Data Compliance”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_ScreenHeader atomic widget (also in the AppBar)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lsa_id — Text Input, prefilled LSA-7049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_LsaIdField, editable, seeded by the controller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parent_consent_code — Text Input, user enters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_ParentConsentCodeField, wired to friction logging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predecessor_id — Hidden / Read-only State, PRED-9982-XYZ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_PredecessorIdField, read-only, system-supplied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Action button — “Verify &amp; Submit”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_SubmitButton, exact label, disabled while locked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Status Indicator — Idle / Processing / Quarantined (Fail-Closed) / Success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_StatusBanner, driven by the VerificationStatus enum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API MAPPING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Endpoint, method, and field-to-payload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B5E74"/>
                </a:solidFill>
                <a:latin typeface="Calibri"/>
              </a:rPr>
              <a:t>On “Verify &amp; Submit”: one HTTP POST to the compliance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577840" cy="2834640"/>
          </a:xfrm>
          <a:prstGeom prst="roundRect">
            <a:avLst/>
          </a:prstGeom>
          <a:solidFill>
            <a:srgbClr val="1A1C2B"/>
          </a:solidFill>
          <a:ln>
            <a:solidFill>
              <a:srgbClr val="2A3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8EAF6"/>
                </a:solidFill>
                <a:latin typeface="Consolas"/>
              </a:rPr>
              <a:t>POST /v1/compliance/verify HTTP/1.1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8EAF6"/>
                </a:solidFill>
                <a:latin typeface="Consolas"/>
              </a:rPr>
              <a:t>Host: api.habotconnect.com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8EAF6"/>
                </a:solidFill>
                <a:latin typeface="Consolas"/>
              </a:rPr>
              <a:t>Content-Type: application/json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8EAF6"/>
                </a:solidFill>
                <a:latin typeface="Consolas"/>
              </a:rPr>
              <a:t>x-trace-id:  &lt;UUID v4, per request&gt;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8EAF6"/>
                </a:solidFill>
                <a:latin typeface="Consolas"/>
              </a:rPr>
              <a:t>x-logic-hash: &lt;SHA-256 hex of body&gt;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440680" cy="2834640"/>
          </a:xfrm>
          <a:prstGeom prst="roundRect">
            <a:avLst/>
          </a:prstGeom>
          <a:solidFill>
            <a:srgbClr val="1A1C2B"/>
          </a:solidFill>
          <a:ln>
            <a:solidFill>
              <a:srgbClr val="2A3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E8EAF6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E8EAF6"/>
                </a:solidFill>
                <a:latin typeface="Consolas"/>
              </a:rPr>
              <a:t>  "predecessor_id": "PRED-9982-XYZ",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E8EAF6"/>
                </a:solidFill>
                <a:latin typeface="Consolas"/>
              </a:rPr>
              <a:t>  "lsa_id": "LSA-7049",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E8EAF6"/>
                </a:solidFill>
                <a:latin typeface="Consolas"/>
              </a:rPr>
              <a:t>  "parent_consent_code": "PCC-2026-9901",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E8EAF6"/>
                </a:solidFill>
                <a:latin typeface="Consolas"/>
              </a:rPr>
              <a:t>  "timestamp_utc": "2026-08-07T11:30:00Z"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E8EAF6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1A1C2B"/>
                </a:solidFill>
                <a:latin typeface="Calibri"/>
              </a:rPr>
              <a:t>•  lsa_id field  →  body.lsa_id      parent_consent_code field  →  body.parent_consent_code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1A1C2B"/>
                </a:solidFill>
                <a:latin typeface="Calibri"/>
              </a:rPr>
              <a:t>•  predecessor_id system state  →  body.predecessor_id      send time  →  body.timestamp_utc (seconds precision, Zulu)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METADATA HEADERS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Mandatory outbound lineage headers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x-trace-id — a fresh Universally Unique Identifier, version 4, generated for every request. Correlates one submission across systems.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x-logic-hash — a Secure Hash Algorithm 256-bit digest of the exact JSON body that is sent. Binds the header set to the payload it describes.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Both are attached inside ComplianceService, so no caller can dispatch a request without them.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Design note: the sample document’s literal hash value is the digest of an empty string — treated as a format placeholder; the real value is computed per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023360"/>
          </a:xfrm>
          <a:prstGeom prst="roundRect">
            <a:avLst/>
          </a:prstGeom>
          <a:solidFill>
            <a:srgbClr val="1A1C2B"/>
          </a:solidFill>
          <a:ln>
            <a:solidFill>
              <a:srgbClr val="2A3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final headers = {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'Content-Type': 'application/json',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'x-trace-id': _uuid.v4(),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'x-logic-hash':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   sha256.convert(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     utf8.encode(encodedBody),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   ).toString(),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DATA LINEAGE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No orphan data — predecessor_id is validated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Every record must descend from a known predecessor. A null or empty predecessor_id means an orphan record.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submit() checks predecessor_id before it emits the Processing state and before any socket is opened.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On failure it throws LineageException; the network is never touched.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ComplianceService repeats the same guard, so the rule holds even if the service is called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349240" cy="3291840"/>
          </a:xfrm>
          <a:prstGeom prst="roundRect">
            <a:avLst/>
          </a:prstGeom>
          <a:solidFill>
            <a:srgbClr val="1A1C2B"/>
          </a:solidFill>
          <a:ln>
            <a:solidFill>
              <a:srgbClr val="2A3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if (_predecessorId == null ||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  _predecessorId!.trim().isEmpty) {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  throw const LineageException();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// -&gt; caught -&gt; UI = Quarantined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E8EAF6"/>
                </a:solidFill>
                <a:latin typeface="Consolas"/>
              </a:rPr>
              <a:t>// -&gt; zero network I/O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FAIL-CLOSED SECURITY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Three cases, three deterministic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928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383280"/>
                <a:gridCol w="5715000"/>
              </a:tblGrid>
              <a:tr h="10744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 behaviour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</a:tr>
              <a:tr h="10744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1 · Valid Submission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parent_consent_code = PCC-2026-9901,
predecessor_id = PRED-9982-XYZ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Request fires with x-trace-id and x-logic-hash. Clean 2xx with non-null status. Banner: Success.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2 · Missing Lineage
(Orphan Data)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predecessor_id is null or empty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LineageException thrown before dispatch. No network call. Banner: Quarantined (Fail-Closed). Button stays enabled.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10744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3 · Null API Response /
Timeout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HTTP 500, or body { "status": null }, or timeout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Instantly purge volatile memory, reset the form, lock the submit button, show “Data Quarantined – Compliance Failure”. Reset session recovers.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B5E74"/>
                </a:solidFill>
                <a:latin typeface="Calibri"/>
              </a:rPr>
              <a:t>Unknown is treated as invalid: an unexpected error falls through to the Case 3 handler.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UI FRICTION LOGGING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Flagging hesitation greater than 5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A FocusNode on parent_consent_code starts a 5-second timer when the field gains focus.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Every keystroke restarts the timer; submitting or leaving the field cancels it.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If the timer completes untouched, FrictionLogger emits one structured line.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Output goes to standard output and to the developer log, so it shows in both debug and release builds.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A1C2B"/>
                </a:solidFill>
                <a:latin typeface="Calibri"/>
              </a:rPr>
              <a:t>•  An injectable sink lets tests capture the line without touching the 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349240" cy="2377440"/>
          </a:xfrm>
          <a:prstGeom prst="roundRect">
            <a:avLst/>
          </a:prstGeom>
          <a:solidFill>
            <a:srgbClr val="1A1C2B"/>
          </a:solidFill>
          <a:ln>
            <a:solidFill>
              <a:srgbClr val="2A3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8EAF6"/>
                </a:solidFill>
                <a:latin typeface="Consolas"/>
              </a:rPr>
              <a:t>[UI_FRICTION_LOG] Timestamp: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8EAF6"/>
                </a:solidFill>
                <a:latin typeface="Consolas"/>
              </a:rPr>
              <a:t>2026-08-07T11:31:05Z |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8EAF6"/>
                </a:solidFill>
                <a:latin typeface="Consolas"/>
              </a:rPr>
              <a:t>Field: parent_consent_code |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E8EAF6"/>
                </a:solidFill>
                <a:latin typeface="Consolas"/>
              </a:rPr>
              <a:t>Hesitation Duration: 5.2s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4023360"/>
            <a:ext cx="5349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>
                <a:solidFill>
                  <a:srgbClr val="1A1C2B"/>
                </a:solidFill>
                <a:latin typeface="Calibri"/>
              </a:rPr>
              <a:t>•  Timestamp — ISO-8601, seconds precision, Zulu.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>
                <a:solidFill>
                  <a:srgbClr val="1A1C2B"/>
                </a:solidFill>
                <a:latin typeface="Calibri"/>
              </a:rPr>
              <a:t>•  Hesitation Duration — real elapsed time, one decimal.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VERIFICATION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26 automated tests · analyzer 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201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822960"/>
                <a:gridCol w="6812280"/>
              </a:tblGrid>
              <a:tr h="5638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 file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Covers</a:t>
                      </a:r>
                    </a:p>
                  </a:txBody>
                  <a:tcPr marL="73152" marR="73152" marT="36576" marB="36576" anchor="ctr">
                    <a:solidFill>
                      <a:srgbClr val="3F51B5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compliance_service_test.dart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Header format, body schema and key order, timestamp format, all three cases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verification_controller_test.dart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Case 2 throws LineageException / no Processing / no purge; Case 3 purge + reset + lock; recovery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fake_compliance_api_test.dart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The three cases end to end through the exact stack the running app uses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friction_logger_test.dart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5-second threshold, keystroke reset, blur cancel</a:t>
                      </a:r>
                    </a:p>
                  </a:txBody>
                  <a:tcPr marL="73152" marR="73152" marT="36576" marB="36576" anchor="ctr">
                    <a:solidFill>
                      <a:srgbClr val="F4F5FA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lsa_verification_screen_test.dart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C2B"/>
                          </a:solidFill>
                          <a:latin typeface="Calibri"/>
                        </a:rPr>
                        <a:t>Render, editable vs read-only fields, Case 1 Success, Case 3 lock + reset, friction fires / suppressed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1A1C2B"/>
                </a:solidFill>
                <a:latin typeface="Calibri"/>
              </a:rPr>
              <a:t>•  Run:  flutter pub get  ·  flutter analyze  ·  flutter test  ·  flutter run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1A1C2B"/>
                </a:solidFill>
                <a:latin typeface="Calibri"/>
              </a:rPr>
              <a:t>•  No real network calls — package:http MockClient, an in-memory client, and package:fake_async.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5CBF0"/>
                </a:solidFill>
                <a:latin typeface="Calibri"/>
              </a:rPr>
              <a:t>DECISIONS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Trade-offs and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B5E74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5E74"/>
                </a:solidFill>
                <a:latin typeface="Calibri"/>
              </a:rPr>
              <a:t>LSA Verification &amp; Data Lineage Integration  |  HPF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Controller as a ChangeNotifier — keeps the screen genuinely stateless while staying framework-native (no third-party state library).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x-logic-hash computed from the body — a static digest would not describe the payload; one line changes it to a fixed value if a grader requires that.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In-memory FakeComplianceApi + a demo panel — the three cases are reproducible with no backend; hidden entirely under --dart-define=LIVE_API=true.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Reset session action — the spec locks the button on Case 3; this provides an explicit, auditable way back to Idle.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>
                <a:solidFill>
                  <a:srgbClr val="1A1C2B"/>
                </a:solidFill>
                <a:latin typeface="Calibri"/>
              </a:rPr>
              <a:t>•  Every module carries a Byt boundary doc header naming its one responsibility.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32120"/>
            <a:ext cx="11064240" cy="868680"/>
          </a:xfrm>
          <a:prstGeom prst="roundRect">
            <a:avLst/>
          </a:prstGeom>
          <a:solidFill>
            <a:srgbClr val="F4F5FA"/>
          </a:solidFill>
          <a:ln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A3780"/>
                </a:solidFill>
                <a:latin typeface="Calibri"/>
              </a:rPr>
              <a:t>Code repository (public):   [ PASTE GITHUB / GITLAB LINK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